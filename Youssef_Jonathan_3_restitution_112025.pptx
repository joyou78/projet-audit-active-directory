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  <p:embeddedFont>
      <p:font typeface="Merriweather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iisBSkJl/bhDASM8NKAd7+i+0U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6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bold.fntdata"/><Relationship Id="rId15" Type="http://schemas.openxmlformats.org/officeDocument/2006/relationships/slide" Target="slides/slide10.xml"/><Relationship Id="rId37" Type="http://schemas.openxmlformats.org/officeDocument/2006/relationships/font" Target="fonts/Merriweather-regular.fntdata"/><Relationship Id="rId14" Type="http://schemas.openxmlformats.org/officeDocument/2006/relationships/slide" Target="slides/slide9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39" Type="http://schemas.openxmlformats.org/officeDocument/2006/relationships/font" Target="fonts/Merriweather-italic.fntdata"/><Relationship Id="rId16" Type="http://schemas.openxmlformats.org/officeDocument/2006/relationships/slide" Target="slides/slide11.xml"/><Relationship Id="rId38" Type="http://schemas.openxmlformats.org/officeDocument/2006/relationships/font" Target="fonts/Merriweather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7e306579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7e306579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0f5139d9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0f5139d9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0f5139d9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0f5139d9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0f5139d9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0f5139d9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0f5139d9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0f5139d9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0f5139d9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0f5139d9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0f5139d9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0f5139d9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0f5139d9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0f5139d9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0f5139d9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0f5139d9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6167261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a6167261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0f5139d99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90f5139d9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0f5139d9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0f5139d9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0f5139d9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0f5139d9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10f2a1b75_0_7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g3910f2a1b75_0_7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g3910f2a1b75_0_7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g3910f2a1b75_0_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910f2a1b75_0_12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g3910f2a1b75_0_12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g3910f2a1b75_0_12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g3910f2a1b75_0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910f2a1b75_0_17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910f2a1b75_0_17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g3910f2a1b75_0_17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g3910f2a1b75_0_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g3910f2a1b75_0_1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g3910f2a1b75_0_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910f2a1b75_0_24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910f2a1b75_0_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g3910f2a1b75_0_24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g3910f2a1b75_0_24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g3910f2a1b75_0_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910f2a1b75_0_30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910f2a1b75_0_3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g3910f2a1b75_0_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910f2a1b75_0_34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910f2a1b75_0_34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g3910f2a1b75_0_34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g3910f2a1b75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910f2a1b75_0_39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g3910f2a1b75_0_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910f2a1b75_0_4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910f2a1b75_0_42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g3910f2a1b75_0_42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g3910f2a1b75_0_42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g3910f2a1b75_0_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10f2a1b75_0_48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910f2a1b75_0_48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g3910f2a1b75_0_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910f2a1b75_0_52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g3910f2a1b75_0_52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g3910f2a1b75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10f2a1b75_0_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10f2a1b75_0_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g3910f2a1b75_0_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10f2a1b75_0_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i="1" lang="fr">
                <a:solidFill>
                  <a:schemeClr val="dk2"/>
                </a:solidFill>
              </a:rPr>
              <a:t>Réunion de restitution</a:t>
            </a:r>
            <a:endParaRPr i="1">
              <a:solidFill>
                <a:schemeClr val="dk2"/>
              </a:solidFill>
            </a:endParaRPr>
          </a:p>
        </p:txBody>
      </p:sp>
      <p:sp>
        <p:nvSpPr>
          <p:cNvPr id="65" name="Google Shape;65;p1"/>
          <p:cNvSpPr txBox="1"/>
          <p:nvPr>
            <p:ph idx="1" type="subTitle"/>
          </p:nvPr>
        </p:nvSpPr>
        <p:spPr>
          <a:xfrm>
            <a:off x="3044700" y="3108823"/>
            <a:ext cx="30546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1250"/>
              <a:buNone/>
            </a:pPr>
            <a:r>
              <a:rPr i="1" lang="fr">
                <a:solidFill>
                  <a:schemeClr val="dk2"/>
                </a:solidFill>
              </a:rPr>
              <a:t>Pentest de la clinique de Frontignan</a:t>
            </a:r>
            <a:endParaRPr i="1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1250"/>
              <a:buNone/>
            </a:pPr>
            <a:r>
              <a:t/>
            </a:r>
            <a:endParaRPr i="1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1250"/>
              <a:buNone/>
            </a:pPr>
            <a:r>
              <a:rPr i="1" lang="fr">
                <a:solidFill>
                  <a:schemeClr val="dk2"/>
                </a:solidFill>
              </a:rPr>
              <a:t>Jonathan Youssef</a:t>
            </a:r>
            <a:endParaRPr i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/>
              <a:t>Sommaire</a:t>
            </a:r>
            <a:endParaRPr/>
          </a:p>
        </p:txBody>
      </p:sp>
      <p:sp>
        <p:nvSpPr>
          <p:cNvPr id="71" name="Google Shape;71;p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1. Contexte et périmètre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2. Reconnaissance initiale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3. Vulnérabilités identifiées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4. Plan d'action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>
            <p:ph type="title"/>
          </p:nvPr>
        </p:nvSpPr>
        <p:spPr>
          <a:xfrm>
            <a:off x="311725" y="500925"/>
            <a:ext cx="3706500" cy="10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/>
              <a:t>Contexte et périmètre</a:t>
            </a:r>
            <a:endParaRPr/>
          </a:p>
        </p:txBody>
      </p:sp>
      <p:sp>
        <p:nvSpPr>
          <p:cNvPr id="77" name="Google Shape;77;p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8461"/>
              <a:buNone/>
            </a:pPr>
            <a:r>
              <a:rPr i="1" lang="fr">
                <a:solidFill>
                  <a:schemeClr val="dk2"/>
                </a:solidFill>
              </a:rPr>
              <a:t>Contexte</a:t>
            </a:r>
            <a:endParaRPr i="1">
              <a:solidFill>
                <a:schemeClr val="dk2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38461"/>
              <a:buChar char="●"/>
            </a:pPr>
            <a:r>
              <a:rPr i="1" lang="fr">
                <a:solidFill>
                  <a:schemeClr val="dk2"/>
                </a:solidFill>
              </a:rPr>
              <a:t>- Date : </a:t>
            </a:r>
            <a:r>
              <a:rPr i="1" lang="fr"/>
              <a:t>28</a:t>
            </a:r>
            <a:r>
              <a:rPr i="1" lang="fr">
                <a:solidFill>
                  <a:schemeClr val="dk2"/>
                </a:solidFill>
              </a:rPr>
              <a:t> Novembre 2025 </a:t>
            </a:r>
            <a:endParaRPr i="1">
              <a:solidFill>
                <a:schemeClr val="dk2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38461"/>
              <a:buChar char="●"/>
            </a:pPr>
            <a:r>
              <a:rPr i="1" lang="fr">
                <a:solidFill>
                  <a:schemeClr val="dk2"/>
                </a:solidFill>
              </a:rPr>
              <a:t>- Client : Clinique de Frontignan </a:t>
            </a:r>
            <a:endParaRPr i="1">
              <a:solidFill>
                <a:schemeClr val="dk2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38461"/>
              <a:buChar char="●"/>
            </a:pPr>
            <a:r>
              <a:rPr i="1" lang="fr">
                <a:solidFill>
                  <a:schemeClr val="dk2"/>
                </a:solidFill>
              </a:rPr>
              <a:t>- Nicolas Turing (DSI) - Objectif : Audit de sécurité Active Directory - Type : Test d'intrusion interne (Black Box) </a:t>
            </a:r>
            <a:endParaRPr i="1">
              <a:solidFill>
                <a:schemeClr val="dk2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38461"/>
              <a:buChar char="●"/>
            </a:pPr>
            <a:r>
              <a:rPr i="1" lang="fr">
                <a:solidFill>
                  <a:schemeClr val="dk2"/>
                </a:solidFill>
              </a:rPr>
              <a:t>- Durée : 65 minutes</a:t>
            </a:r>
            <a:endParaRPr i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38461"/>
              <a:buNone/>
            </a:pPr>
            <a:r>
              <a:t/>
            </a:r>
            <a:endParaRPr i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38461"/>
              <a:buNone/>
            </a:pPr>
            <a:r>
              <a:rPr i="1" lang="fr">
                <a:solidFill>
                  <a:schemeClr val="dk2"/>
                </a:solidFill>
              </a:rPr>
              <a:t>Périmètre (trouver avec nmap)</a:t>
            </a:r>
            <a:endParaRPr i="1">
              <a:solidFill>
                <a:schemeClr val="dk2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38461"/>
              <a:buChar char="●"/>
            </a:pPr>
            <a:r>
              <a:rPr i="1" lang="fr">
                <a:solidFill>
                  <a:schemeClr val="dk2"/>
                </a:solidFill>
              </a:rPr>
              <a:t>- Réseau cible : 10.10.10.0/24 </a:t>
            </a:r>
            <a:endParaRPr i="1">
              <a:solidFill>
                <a:schemeClr val="dk2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38461"/>
              <a:buChar char="●"/>
            </a:pPr>
            <a:r>
              <a:rPr i="1" lang="fr">
                <a:solidFill>
                  <a:schemeClr val="dk2"/>
                </a:solidFill>
              </a:rPr>
              <a:t>- Domaine : TRAVERS.IC - Serveurs : </a:t>
            </a:r>
            <a:endParaRPr i="1">
              <a:solidFill>
                <a:schemeClr val="dk2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38461"/>
              <a:buChar char="●"/>
            </a:pPr>
            <a:r>
              <a:rPr i="1" lang="fr">
                <a:solidFill>
                  <a:schemeClr val="dk2"/>
                </a:solidFill>
              </a:rPr>
              <a:t>- DC01 (10.10.10.101) - Contrôleur de domaine </a:t>
            </a:r>
            <a:endParaRPr i="1">
              <a:solidFill>
                <a:schemeClr val="dk2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38461"/>
              <a:buChar char="●"/>
            </a:pPr>
            <a:r>
              <a:rPr i="1" lang="fr">
                <a:solidFill>
                  <a:schemeClr val="dk2"/>
                </a:solidFill>
              </a:rPr>
              <a:t>- FILER01 (10.10.10.112) - Serveur de fichiers </a:t>
            </a:r>
            <a:endParaRPr i="1">
              <a:solidFill>
                <a:schemeClr val="dk2"/>
              </a:solidFill>
            </a:endParaRPr>
          </a:p>
          <a:p>
            <a:pPr indent="-30861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38461"/>
              <a:buChar char="●"/>
            </a:pPr>
            <a:r>
              <a:rPr i="1" lang="fr">
                <a:solidFill>
                  <a:schemeClr val="dk2"/>
                </a:solidFill>
              </a:rPr>
              <a:t>- DESKTOP01 (10.10.10.117) - Poste utilisateur</a:t>
            </a:r>
            <a:endParaRPr i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7e306579e_0_1"/>
          <p:cNvSpPr txBox="1"/>
          <p:nvPr>
            <p:ph type="title"/>
          </p:nvPr>
        </p:nvSpPr>
        <p:spPr>
          <a:xfrm>
            <a:off x="311725" y="500925"/>
            <a:ext cx="3706500" cy="10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Reconnaissance initiale</a:t>
            </a:r>
            <a:endParaRPr/>
          </a:p>
        </p:txBody>
      </p:sp>
      <p:sp>
        <p:nvSpPr>
          <p:cNvPr id="83" name="Google Shape;83;g3a7e306579e_0_1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SCAN RÉSEAU AVEC NMAP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Commande : nmap 10.10.10.0/24 -p- -sV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Résultats : - 3 hôtes actifs identifiés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DC01 (10.10.10.101) : 29 ports ouverts → Kerberos (88), LDAP (389), SMB (445), RDP (3389) → SMB Signing : ACTIVÉ ✓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FILER01 (10.10.10.112) : 15 ports ouverts → FTP (21), SMB (445) → SMB Signing : DÉSACTIVÉ ⚠️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- DESKTOP01 (10.10.10.117) : 14 ports ouverts → SMB (445), RDP (3389) → SMB Signing : DÉSACTIVÉ ⚠️ - Découvertes : ✅ Nom du domaine : TRAVERS.IC ✅ Contrôleur de domaine identifié : DC01 ⚠️ 2 machines vulnérables aux attaques SMB Relay</a:t>
            </a:r>
            <a:endParaRPr/>
          </a:p>
        </p:txBody>
      </p:sp>
      <p:pic>
        <p:nvPicPr>
          <p:cNvPr id="84" name="Google Shape;84;g3a7e306579e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50" y="1749550"/>
            <a:ext cx="4554425" cy="238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/>
          <p:nvPr>
            <p:ph type="title"/>
          </p:nvPr>
        </p:nvSpPr>
        <p:spPr>
          <a:xfrm>
            <a:off x="311725" y="500925"/>
            <a:ext cx="37065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0000"/>
              <a:buNone/>
            </a:pPr>
            <a:r>
              <a:rPr lang="fr"/>
              <a:t>Vulnérabilités V01</a:t>
            </a:r>
            <a:endParaRPr/>
          </a:p>
        </p:txBody>
      </p:sp>
      <p:sp>
        <p:nvSpPr>
          <p:cNvPr id="90" name="Google Shape;90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i="1" lang="fr">
                <a:solidFill>
                  <a:schemeClr val="dk2"/>
                </a:solidFill>
              </a:rPr>
              <a:t>V-01 </a:t>
            </a:r>
            <a:endParaRPr i="1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i="1" lang="fr">
                <a:solidFill>
                  <a:schemeClr val="dk2"/>
                </a:solidFill>
              </a:rPr>
              <a:t>- SMB SIGNING DÉSACTIVÉ </a:t>
            </a:r>
            <a:endParaRPr i="1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i="1" lang="fr">
                <a:solidFill>
                  <a:schemeClr val="dk2"/>
                </a:solidFill>
              </a:rPr>
              <a:t>- Description : Le SMB Signing n'est pas obligatoire sur FILER01 et DESKTOP01, permettant des attaques SMB Relay </a:t>
            </a:r>
            <a:endParaRPr i="1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i="1" lang="fr">
                <a:solidFill>
                  <a:schemeClr val="dk2"/>
                </a:solidFill>
              </a:rPr>
              <a:t>- Criticité : HAUTE - Machines concernées : </a:t>
            </a:r>
            <a:endParaRPr i="1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i="1" lang="fr">
                <a:solidFill>
                  <a:schemeClr val="dk2"/>
                </a:solidFill>
              </a:rPr>
              <a:t>- FILER01 (10.10.10.112) </a:t>
            </a:r>
            <a:endParaRPr i="1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i="1" lang="fr">
                <a:solidFill>
                  <a:schemeClr val="dk2"/>
                </a:solidFill>
              </a:rPr>
              <a:t>- DESKTOP01 (10.10.10.117) - Recommandations à court terme : - Activer SMB Signing obligatoire via GPO </a:t>
            </a:r>
            <a:endParaRPr i="1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i="1" lang="fr">
                <a:solidFill>
                  <a:schemeClr val="dk2"/>
                </a:solidFill>
              </a:rPr>
              <a:t>- Appliquer sous 30 jours</a:t>
            </a:r>
            <a:endParaRPr i="1">
              <a:solidFill>
                <a:schemeClr val="dk2"/>
              </a:solidFill>
            </a:endParaRPr>
          </a:p>
        </p:txBody>
      </p:sp>
      <p:pic>
        <p:nvPicPr>
          <p:cNvPr id="91" name="Google Shape;9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25" y="1305300"/>
            <a:ext cx="4361600" cy="377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/>
          <p:nvPr>
            <p:ph type="title"/>
          </p:nvPr>
        </p:nvSpPr>
        <p:spPr>
          <a:xfrm>
            <a:off x="311725" y="500925"/>
            <a:ext cx="37065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/>
              <a:t>Vulnérabilités V02</a:t>
            </a:r>
            <a:endParaRPr/>
          </a:p>
        </p:txBody>
      </p:sp>
      <p:sp>
        <p:nvSpPr>
          <p:cNvPr id="97" name="Google Shape;97;p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V-02 - MULTIPLES COMPTES AVEC MOTS DE PASSE FAIBLES 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- Description : 3 comptes utilisent le pattern username = password : - backup:backup - svcweb:svcweb - test:test → Compromission en 5 minutes par password spraying ! 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- Criticité : CRITIQUE ⚠️ 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- Impact : - Points d'entrée multiples dans le domaine - Aucune politique de complexité appliquée - Aucun blocage après tentatives échouées - Facilite les attaques automatisées 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/>
              <a:t>- Recommandations à court terme : - Réinitialisation IMMÉDIATE des 3 mots de passe - Politique de mot de passe forte (14 caractères min) - Blocage après 5 tentatives échouées - Interdire le pattern username = password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2"/>
              </a:solidFill>
            </a:endParaRPr>
          </a:p>
        </p:txBody>
      </p:sp>
      <p:pic>
        <p:nvPicPr>
          <p:cNvPr id="98" name="Google Shape;9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57645"/>
            <a:ext cx="4574750" cy="974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0f5139d99_0_6"/>
          <p:cNvSpPr txBox="1"/>
          <p:nvPr>
            <p:ph type="title"/>
          </p:nvPr>
        </p:nvSpPr>
        <p:spPr>
          <a:xfrm>
            <a:off x="311725" y="500925"/>
            <a:ext cx="3706500" cy="11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V03</a:t>
            </a:r>
            <a:endParaRPr/>
          </a:p>
        </p:txBody>
      </p:sp>
      <p:sp>
        <p:nvSpPr>
          <p:cNvPr id="104" name="Google Shape;104;g390f5139d99_0_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V-03 - CREDENTIALS EN CLAIR DANS DESCRIPTION AD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Description : Le compte "amaillot" expose son mot de passe dans l'attribut "Description" LDAP visible par tous : "Compte temporaire (Mot de passe Support2021)"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Criticité : CRITIQUE ⚠️ - Impact : - Exposition du mot de passe à tous les utilisateurs - Violation flagrante des bonnes pratiques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- Recommandations à court terme : - Supprimer IMMÉDIATEMENT cette description - Réinitialiser le mot de passe d'amaillot - Auditer toutes les descriptions LDAP</a:t>
            </a:r>
            <a:endParaRPr/>
          </a:p>
        </p:txBody>
      </p:sp>
      <p:pic>
        <p:nvPicPr>
          <p:cNvPr id="105" name="Google Shape;105;g390f5139d99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5" y="1468450"/>
            <a:ext cx="4422349" cy="317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0f5139d99_0_13"/>
          <p:cNvSpPr txBox="1"/>
          <p:nvPr>
            <p:ph type="title"/>
          </p:nvPr>
        </p:nvSpPr>
        <p:spPr>
          <a:xfrm>
            <a:off x="311725" y="500925"/>
            <a:ext cx="3706500" cy="10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V04</a:t>
            </a:r>
            <a:endParaRPr/>
          </a:p>
        </p:txBody>
      </p:sp>
      <p:sp>
        <p:nvSpPr>
          <p:cNvPr id="111" name="Google Shape;111;g390f5139d99_0_1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V-04 - OUTILS DE PENTEST SUR LE CONTRÔLEUR DE DOMAINE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Description : Le partage \\DC01\Tools contient des outils offensifs accessibles à tous les utilisateurs authentifiés : - Mimikatz (vol de credentials) - Rubeus (attaques Kerberos) - SharpHound (reconnaissance AD) - Snaffler (recherche de secrets)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Criticité : CRITIQUE ⚠️ - Impact : - Facilite grandement les attaques internes - Met à disposition des outils professionnels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- Recommandations à court terme : - SUPPRIMER IMMÉDIATEMENT ces outils - Ou restreindre l'accès aux Domain Admins uniquement</a:t>
            </a:r>
            <a:endParaRPr/>
          </a:p>
        </p:txBody>
      </p:sp>
      <p:pic>
        <p:nvPicPr>
          <p:cNvPr id="112" name="Google Shape;112;g390f5139d99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1138250"/>
            <a:ext cx="4298100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0f5139d99_0_20"/>
          <p:cNvSpPr txBox="1"/>
          <p:nvPr>
            <p:ph type="title"/>
          </p:nvPr>
        </p:nvSpPr>
        <p:spPr>
          <a:xfrm>
            <a:off x="311725" y="500925"/>
            <a:ext cx="3706500" cy="9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V05</a:t>
            </a:r>
            <a:endParaRPr/>
          </a:p>
        </p:txBody>
      </p:sp>
      <p:sp>
        <p:nvSpPr>
          <p:cNvPr id="118" name="Google Shape;118;g390f5139d99_0_20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V-05 - PARTAGES RÉSEAU MAL SÉCURISÉS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Description : Plusieurs partages réseau sont accessibles en lecture à tous les utilisateurs authentifiés : - \\DC01\Tools (Critique - outils de pentest) - \\FILER01\Configuration (Critique - scripts sensibles)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Criticité : MOYENNE - Impact : - Exposition de fichiers sensibles - Violation du principe du moindre privilège - A permis la découverte du script admin.ps1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- Recommandations à court terme : - Auditer TOUS les partages réseau - Restreindre l'accès selon les besoins métier - Appliquer le principe du moindre privilège</a:t>
            </a:r>
            <a:endParaRPr/>
          </a:p>
        </p:txBody>
      </p:sp>
      <p:pic>
        <p:nvPicPr>
          <p:cNvPr id="119" name="Google Shape;119;g390f5139d99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50175"/>
            <a:ext cx="4572001" cy="169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0f5139d99_0_27"/>
          <p:cNvSpPr txBox="1"/>
          <p:nvPr>
            <p:ph type="title"/>
          </p:nvPr>
        </p:nvSpPr>
        <p:spPr>
          <a:xfrm>
            <a:off x="311725" y="500925"/>
            <a:ext cx="3706500" cy="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V06</a:t>
            </a:r>
            <a:endParaRPr/>
          </a:p>
        </p:txBody>
      </p:sp>
      <p:sp>
        <p:nvSpPr>
          <p:cNvPr id="125" name="Google Shape;125;g390f5139d99_0_2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V-06 - CONNEXION SMB ANONYME POSSIBLE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Description : Connexion SMB anonyme acceptée sur le contrôleur de domaine, permettant une énumération limitée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Criticité : FAIBLE - Impact : - Collecte d'informations sur le domaine - Énumération des comptes et groupes - Facilite la reconnaissance initiale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- Recommandations à court terme : - Désactiver l'accès SMB anonyme via GPO - Appliquer sous 60 jours</a:t>
            </a:r>
            <a:endParaRPr/>
          </a:p>
        </p:txBody>
      </p:sp>
      <p:pic>
        <p:nvPicPr>
          <p:cNvPr id="126" name="Google Shape;126;g390f5139d99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50" y="1732275"/>
            <a:ext cx="4545250" cy="167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0f5139d99_0_34"/>
          <p:cNvSpPr txBox="1"/>
          <p:nvPr>
            <p:ph type="title"/>
          </p:nvPr>
        </p:nvSpPr>
        <p:spPr>
          <a:xfrm>
            <a:off x="311725" y="500925"/>
            <a:ext cx="3706500" cy="8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V07</a:t>
            </a:r>
            <a:endParaRPr/>
          </a:p>
        </p:txBody>
      </p:sp>
      <p:sp>
        <p:nvSpPr>
          <p:cNvPr id="132" name="Google Shape;132;g390f5139d99_0_3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V-07 - CREDENTIALS ADMIN DANS SCRIPT POWERSHELL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Description : Le fichier \\FILER01\Configuration\Windows\...\admin.ps1 contient les credentials d'un compte administrateur : scolin:M3dic3xP4ssw0rd (Admins Workstations) ⚠️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Criticité : CRITIQUE ⚠️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Impact : - Exposition d'un compte administrateur en clair - Élévation de privilèges directe - Accès admin local sur DESKTOP01 - Point de départ du Pass-the-Hash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- Recommandations à court terme : - SUPPRIMER IMMÉDIATEMENT ce fichier - Réinitialiser le mot de passe de scolin - MFA obligatoire pour tous les administrateurs - Scanner tous les partages pour scripts similaires - Migrer vers gMSA</a:t>
            </a:r>
            <a:endParaRPr/>
          </a:p>
        </p:txBody>
      </p:sp>
      <p:pic>
        <p:nvPicPr>
          <p:cNvPr id="133" name="Google Shape;133;g390f5139d99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90" y="1359825"/>
            <a:ext cx="4607384" cy="262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0f5139d99_0_41"/>
          <p:cNvSpPr txBox="1"/>
          <p:nvPr>
            <p:ph type="title"/>
          </p:nvPr>
        </p:nvSpPr>
        <p:spPr>
          <a:xfrm>
            <a:off x="311725" y="500925"/>
            <a:ext cx="3706500" cy="9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V08</a:t>
            </a:r>
            <a:endParaRPr/>
          </a:p>
        </p:txBody>
      </p:sp>
      <p:sp>
        <p:nvSpPr>
          <p:cNvPr id="139" name="Google Shape;139;g390f5139d99_0_41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V-08 - HASH NTLM ADMINISTRATOR RÉUTILISABLE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Description : Le hash NTLM de l'administrateur local est identique sur DESKTOP01 ET FILER01 → Absence de LAPS (Local Administrator Password Solution)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Criticité : CRITIQUE ⚠️ - Hash : 1dc15302289cae7a5139044ce6b872d7 - Machines affectées : - DESKTOP01 (hash extrait) - FILER01 (Pass-the-Hash réussi)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Impact : - Pass-the-Hash réussi entre machines - Mouvement latéral facilité - Même mot de passe admin local partout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- Recommandations à court terme : - Déployer LAPS sous 30 jours (PRIORITÉ) - Rotation automatique des mots de passe locaux</a:t>
            </a:r>
            <a:endParaRPr/>
          </a:p>
        </p:txBody>
      </p:sp>
      <p:pic>
        <p:nvPicPr>
          <p:cNvPr id="140" name="Google Shape;140;g390f5139d99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275" y="4483101"/>
            <a:ext cx="6606818" cy="49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90f5139d99_0_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40599"/>
            <a:ext cx="4572000" cy="331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0f5139d99_0_48"/>
          <p:cNvSpPr txBox="1"/>
          <p:nvPr>
            <p:ph type="title"/>
          </p:nvPr>
        </p:nvSpPr>
        <p:spPr>
          <a:xfrm>
            <a:off x="311725" y="500925"/>
            <a:ext cx="3706500" cy="8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V09</a:t>
            </a:r>
            <a:endParaRPr/>
          </a:p>
        </p:txBody>
      </p:sp>
      <p:sp>
        <p:nvSpPr>
          <p:cNvPr id="147" name="Google Shape;147;g390f5139d99_0_4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V-09 - CREDENTIALS EN CLAIR DANS LSA SECRETS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Description : Le compte "anoel" (Admins Serveurs) a son mot de passe stocké en clair dans les LSA Secrets de FILER01 : anoel@travers.ic : Vuln3r4bl3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Criticité : CRITIQUE ⚠️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Impact : - Compte Admins Serveurs compromis - Accès administrateur sur tous les serveurs - Accès WinRM distant obtenu - Contrôle quasi-total sur l'infrastructure serveurs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- Recommandations à court terme : - Réinitialisation IMMÉDIATE - Migration vers gMSA (Group Managed Service Accounts) - Ne jamais stocker de credentials en dur</a:t>
            </a:r>
            <a:endParaRPr/>
          </a:p>
        </p:txBody>
      </p:sp>
      <p:pic>
        <p:nvPicPr>
          <p:cNvPr id="148" name="Google Shape;148;g390f5139d99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06300"/>
            <a:ext cx="4677325" cy="369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0f5139d99_0_55"/>
          <p:cNvSpPr txBox="1"/>
          <p:nvPr>
            <p:ph type="title"/>
          </p:nvPr>
        </p:nvSpPr>
        <p:spPr>
          <a:xfrm>
            <a:off x="311725" y="500925"/>
            <a:ext cx="37065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V10</a:t>
            </a:r>
            <a:endParaRPr/>
          </a:p>
        </p:txBody>
      </p:sp>
      <p:sp>
        <p:nvSpPr>
          <p:cNvPr id="154" name="Google Shape;154;g390f5139d99_0_5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V-10 - COMPTE DE TEST DORMANT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Description : Le compte "test" utilise "test" comme mot de passe et n'a jamais été désactivé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Criticité : MOYENNE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Impact : - Point d'entrée alternatif pour un attaquant - Compte inutilisé = surface d'attaque inutile - Mauvaise gestion du cycle de vie des comptes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- Recommandations à court terme : - Désactiver ou supprimer ce compte - Procédure de revue trimestrielle des comptes inactifs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a61672615_0_3"/>
          <p:cNvSpPr txBox="1"/>
          <p:nvPr>
            <p:ph type="title"/>
          </p:nvPr>
        </p:nvSpPr>
        <p:spPr>
          <a:xfrm>
            <a:off x="311725" y="500925"/>
            <a:ext cx="3706500" cy="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V11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faille critique</a:t>
            </a:r>
            <a:endParaRPr/>
          </a:p>
        </p:txBody>
      </p:sp>
      <p:sp>
        <p:nvSpPr>
          <p:cNvPr id="160" name="Google Shape;160;g3aa61672615_0_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V-11 - CREDENTIALS EN MÉMOIRE (DOMAIN ADMIN)</a:t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 compte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pclerc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(Membre du groupe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Admins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avait une session active sur le serveur FILER01. Son mot de passe en clair a été extrait de la mémoire du processus LSASS.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Outil utilisé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Mimikatz (exécuté sur FILER01).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Donnée exfiltrée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pclerc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pr0F3550r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Criticité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CRITIQUE (GAME OVER)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☠️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Prise de contrôle total du domaine via ce compte.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Recommandation :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Déployer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Credential Guard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et ajouter les admins au groupe "Protected Users".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1" name="Google Shape;161;g3aa61672615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575" y="1504825"/>
            <a:ext cx="3927350" cy="1513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3aa61672615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575" y="3099125"/>
            <a:ext cx="4439099" cy="66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0f5139d99_0_62"/>
          <p:cNvSpPr txBox="1"/>
          <p:nvPr>
            <p:ph type="title"/>
          </p:nvPr>
        </p:nvSpPr>
        <p:spPr>
          <a:xfrm>
            <a:off x="311725" y="500925"/>
            <a:ext cx="3706500" cy="84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Synthèse des vulnérabilités</a:t>
            </a:r>
            <a:endParaRPr/>
          </a:p>
        </p:txBody>
      </p:sp>
      <p:sp>
        <p:nvSpPr>
          <p:cNvPr id="168" name="Google Shape;168;g390f5139d99_0_6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COMPTES COMPROMIS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- 11 comptes utilisateurs - backup, svcweb, test (mots de passe faibles) - amaillot (description LDAP) - scolin (script PowerShell) - anoel (LSA Secrets) - dmorin, web_svc (hashcats) - Sduval, Vfleury (</a:t>
            </a:r>
            <a:r>
              <a:rPr lang="fr" sz="1200"/>
              <a:t>password spraying) - </a:t>
            </a:r>
            <a:r>
              <a:rPr lang="fr"/>
              <a:t>pclerc (Mimikats)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- 4 comptes administrateurs 🎯 - scolin (Admins Workstations) - Administrator local (via hash) - anoel (Admins Serveurs) - pclerc - Domain Admin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MACHINES COMPROMISES - DESKTOP01 - Accès admin local (via scolin) - FILER01 - Accès admin local (via Pass-the-Hash + anoel) - DC01 - Accès Domain Admin (via pclerc)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0f5139d99_0_69"/>
          <p:cNvSpPr txBox="1"/>
          <p:nvPr>
            <p:ph type="title"/>
          </p:nvPr>
        </p:nvSpPr>
        <p:spPr>
          <a:xfrm>
            <a:off x="311725" y="500925"/>
            <a:ext cx="3706500" cy="8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Plan d'action court terme</a:t>
            </a:r>
            <a:endParaRPr/>
          </a:p>
        </p:txBody>
      </p:sp>
      <p:sp>
        <p:nvSpPr>
          <p:cNvPr id="174" name="Google Shape;174;g390f5139d99_0_69"/>
          <p:cNvSpPr txBox="1"/>
          <p:nvPr>
            <p:ph idx="1" type="body"/>
          </p:nvPr>
        </p:nvSpPr>
        <p:spPr>
          <a:xfrm>
            <a:off x="4514150" y="209775"/>
            <a:ext cx="4296900" cy="48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🔴 URGENT (AUJOURD'HUI - J+0)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R01 - Réinitialiser tous les mots de passe compromis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R02 - Supprimer le script admin.ps</a:t>
            </a:r>
            <a:r>
              <a:rPr lang="fr"/>
              <a:t>1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R03 - Supprimer la description LDAP d'amaillot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🟠 IMPORTANT (CETTE SEMAINE - J+7)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R04 - Politique de mot de passe forte + blocage après 5 tentatives (bloque le password spraying)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R05 - Supprimer les outils de pentest du DC </a:t>
            </a:r>
            <a:endParaRPr/>
          </a:p>
          <a:p>
            <a:pPr indent="0" lvl="0" marL="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50"/>
              <a:t>R06</a:t>
            </a:r>
            <a:r>
              <a:rPr lang="fr" sz="1250"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fr" sz="1250"/>
              <a:t>Déployer Credential Guard + Protected Users (V11 - CRITIQUE)</a:t>
            </a:r>
            <a:endParaRPr sz="1250"/>
          </a:p>
          <a:p>
            <a:pPr indent="0" lvl="0" marL="0" rtl="0" algn="l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250"/>
              <a:t>R07</a:t>
            </a:r>
            <a:r>
              <a:rPr lang="fr" sz="1250"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fr" sz="1250"/>
              <a:t>Rotation krbtgt + Monitoring DCSync (J+14 max)</a:t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🟡 MOYEN TERME (30 JOURS)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R08 - Déployer LAPS (Local Admin Password Solution)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R09 - Activer SMB Signing obligatoire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R10 - Supprimer le compte de test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R11 - Désactiver l'accès SMB anonyme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R12 - Restreindre l'accès au partage Configuration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0f5139d99_0_7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Plan d'action long terme</a:t>
            </a:r>
            <a:endParaRPr/>
          </a:p>
        </p:txBody>
      </p:sp>
      <p:sp>
        <p:nvSpPr>
          <p:cNvPr id="180" name="Google Shape;180;g390f5139d99_0_7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1er CHANTIER : AUTHENTIFICATION RENFORCÉE (90 jours) - Déployer le MFA pour tous les administrateurs - Migrer les comptes de service vers gMSA - Séparer les comptes admin/standard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2e CHANTIER : ARCHITECTURE SÉCURISÉE (180 jours) - Déployer des PAW (Privileged Access Workstations) - Désactiver NTLM et migrer vers Kerberos uniquement - Segmenter le réseau avec des VLANs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3e CHANTIER : DÉTECTION ET RÉPONSE (240 jours) - Déployer un SIEM pour la détection d'attaques - Mettre en place des alertes automatiques - Créer des dashboards de supervision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4e CHANTIER : GOUVERNANCE CONTINUE - Formation et sensibilisation des utilisateurs - Audits semestriels de sécurité - Tests d'intrusion annuels par un cabinet externe - Gestion rigoureuse des mises à jour de sécurité : - Patches critiques : 7 jours max - Patches importants : 30 jours - Déployer WSUS pour centraliser les mises à jour - Objectif : &gt;95% des machines à jour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/>
              <a:t>Conclusion</a:t>
            </a:r>
            <a:endParaRPr/>
          </a:p>
        </p:txBody>
      </p:sp>
      <p:sp>
        <p:nvSpPr>
          <p:cNvPr id="186" name="Google Shape;186;p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BILAN FINAL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 vulnérabilités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exploitées.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Compromission totale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65 minutes.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Accès Domain Admin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validé sur DC01.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de données utilisateurs (NTDS)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exfiltrée.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PRIORITÉS ABSOLUES (Ce soir)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Réinitialisation du compte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pclerc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et des 10 autres comptes.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Rotation du compte </a:t>
            </a:r>
            <a:r>
              <a:rPr lang="f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krbtgt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(Golden Ticket).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Isolation des serveurs critiques.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i="1" lang="fr"/>
              <a:t>L'attaquant a pu extraire les données de tous les patients potentiellement. La réaction doit être immédiate.</a:t>
            </a:r>
            <a:endParaRPr i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i="1" lang="fr"/>
              <a:t>⚡ ENJEU : Protéger les données patients et la continuité d'activité de la Clinique de Frontignan</a:t>
            </a:r>
            <a:endParaRPr i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